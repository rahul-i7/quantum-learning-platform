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241443"/>
          </a:solidFill>
          <a:ln w="19050">
            <a:solidFill>
              <a:srgbClr val="6C4A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548640"/>
            <a:ext cx="4114800" cy="4114800"/>
          </a:xfrm>
          <a:prstGeom prst="ellipse">
            <a:avLst/>
          </a:prstGeom>
          <a:solidFill>
            <a:srgbClr val="1E1140"/>
          </a:solidFill>
          <a:ln w="12700">
            <a:solidFill>
              <a:srgbClr val="24E0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74320"/>
            <a:ext cx="2468880" cy="246888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0" y="1417320"/>
            <a:ext cx="146304" cy="146304"/>
          </a:xfrm>
          <a:prstGeom prst="ellipse">
            <a:avLst/>
          </a:prstGeom>
          <a:solidFill>
            <a:srgbClr val="24E0D6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1463040"/>
            <a:ext cx="146304" cy="146304"/>
          </a:xfrm>
          <a:prstGeom prst="ellipse">
            <a:avLst/>
          </a:prstGeom>
          <a:solidFill>
            <a:srgbClr val="24E0D6"/>
          </a:solidFill>
          <a:ln/>
        </p:spPr>
      </p:sp>
      <p:sp>
        <p:nvSpPr>
          <p:cNvPr id="7" name="Shape 5"/>
          <p:cNvSpPr/>
          <p:nvPr/>
        </p:nvSpPr>
        <p:spPr>
          <a:xfrm>
            <a:off x="9921240" y="1508760"/>
            <a:ext cx="146304" cy="146304"/>
          </a:xfrm>
          <a:prstGeom prst="ellipse">
            <a:avLst/>
          </a:prstGeom>
          <a:solidFill>
            <a:srgbClr val="24E0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4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—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26140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17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Interactive Quantum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Learning Platform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4348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Smart Education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782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Software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1297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Egreen Quanta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4772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[Your Team ID]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8247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[Your Team Name]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966960" y="1234440"/>
            <a:ext cx="1554480" cy="1554480"/>
          </a:xfrm>
          <a:prstGeom prst="ellipse">
            <a:avLst/>
          </a:prstGeom>
          <a:solidFill>
            <a:srgbClr val="2A1B52"/>
          </a:solidFill>
          <a:ln/>
        </p:spPr>
      </p:sp>
      <p:pic>
        <p:nvPicPr>
          <p:cNvPr id="17" name="Image 0" descr="icons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9042" y="1436522"/>
            <a:ext cx="1150315" cy="11503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2025 — PS 26140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QuantumLearn — Learning Quantum Computing by Building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6C4AB6"/>
          </a:solidFill>
          <a:ln/>
        </p:spPr>
      </p:sp>
      <p:pic>
        <p:nvPicPr>
          <p:cNvPr id="5" name="Image 0" descr="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86484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37160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2638044" y="13716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70632" y="1371600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4B3591"/>
          </a:solidFill>
          <a:ln/>
        </p:spPr>
      </p:sp>
      <p:pic>
        <p:nvPicPr>
          <p:cNvPr id="9" name="Image 1" descr="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6" y="158648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19272" y="137160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Circuit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860036" y="13716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992624" y="1371600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6C4AB6"/>
          </a:solidFill>
          <a:ln/>
        </p:spPr>
      </p:sp>
      <p:pic>
        <p:nvPicPr>
          <p:cNvPr id="13" name="Image 2" descr="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58648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41264" y="137160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7082028" y="13716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214616" y="1371600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4B3591"/>
          </a:solidFill>
          <a:ln/>
        </p:spPr>
      </p:sp>
      <p:pic>
        <p:nvPicPr>
          <p:cNvPr id="17" name="Image 3" descr="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58648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63256" y="137160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9304020" y="13716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9436608" y="1371600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6C4AB6"/>
          </a:solidFill>
          <a:ln/>
        </p:spPr>
      </p:sp>
      <p:pic>
        <p:nvPicPr>
          <p:cNvPr id="21" name="Image 4" descr="icons/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158648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85248" y="137160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48640" y="237744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C66">
                <a:alpha val="1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C6414A"/>
          </a:solidFill>
          <a:ln/>
        </p:spPr>
      </p:sp>
      <p:pic>
        <p:nvPicPr>
          <p:cNvPr id="25" name="Image 5" descr="icons/war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266547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71600" y="2633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777240" y="3154680"/>
            <a:ext cx="3246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— qubits, superposition, entanglement — are abstract and hard to grasp from theory alone.</a:t>
            </a:r>
            <a:endParaRPr lang="en-US" sz="113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resources are static and heavily theoretical, with little hands-on interaction.</a:t>
            </a:r>
            <a:endParaRPr lang="en-US" sz="113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quantum hardware access is limited and expensive.</a:t>
            </a:r>
            <a:endParaRPr lang="en-US" sz="113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combines instruction, circuit design, simulation and feedback.</a:t>
            </a:r>
            <a:endParaRPr lang="en-US" sz="1130" dirty="0"/>
          </a:p>
        </p:txBody>
      </p:sp>
      <p:sp>
        <p:nvSpPr>
          <p:cNvPr id="28" name="Shape 20"/>
          <p:cNvSpPr/>
          <p:nvPr/>
        </p:nvSpPr>
        <p:spPr>
          <a:xfrm>
            <a:off x="4343400" y="237744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C66">
                <a:alpha val="18000"/>
              </a:srgbClr>
            </a:outerShdw>
          </a:effectLst>
        </p:spPr>
      </p:sp>
      <p:sp>
        <p:nvSpPr>
          <p:cNvPr id="29" name="Text 21"/>
          <p:cNvSpPr txBox="1"/>
          <p:nvPr/>
        </p:nvSpPr>
        <p:spPr>
          <a:xfrm>
            <a:off x="461772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17720" y="297180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circuit builder + Monaco code editor, sharing one circuit-JSON contract.</a:t>
            </a:r>
            <a:endParaRPr lang="en-US" sz="113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Multi-backend simulation (Qiskit Aer now; PennyLane, Cirq, qBraid via adapter pattern).</a:t>
            </a:r>
            <a:endParaRPr lang="en-US" sz="113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(Gemini) explains, debugs and optimizes circuits, grounded in real simulation output.</a:t>
            </a:r>
            <a:endParaRPr lang="en-US" sz="113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Bloch-sphere and measurement-histogram visualizations for every run.</a:t>
            </a:r>
            <a:endParaRPr lang="en-US" sz="1130" dirty="0"/>
          </a:p>
        </p:txBody>
      </p:sp>
      <p:sp>
        <p:nvSpPr>
          <p:cNvPr id="31" name="Shape 23"/>
          <p:cNvSpPr/>
          <p:nvPr/>
        </p:nvSpPr>
        <p:spPr>
          <a:xfrm>
            <a:off x="8229600" y="2377440"/>
            <a:ext cx="3383280" cy="1664208"/>
          </a:xfrm>
          <a:prstGeom prst="roundRect">
            <a:avLst>
              <a:gd name="adj" fmla="val 6593"/>
            </a:avLst>
          </a:prstGeom>
          <a:solidFill>
            <a:srgbClr val="160A2E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8485632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Different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485632" y="2788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circuit format ties builder, editor, simulator and tutor together.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can run the learner's circuit, not just guess from code.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8229600" y="41605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24E0D6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8485632" y="4270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Value Proposition</a:t>
            </a:r>
            <a:endParaRPr lang="en-US" sz="1350" dirty="0"/>
          </a:p>
        </p:txBody>
      </p:sp>
      <p:sp>
        <p:nvSpPr>
          <p:cNvPr id="36" name="Text 28"/>
          <p:cNvSpPr txBox="1"/>
          <p:nvPr/>
        </p:nvSpPr>
        <p:spPr>
          <a:xfrm>
            <a:off x="8485632" y="45720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E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cost — full learning-to-execution loop on classical simulation.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E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paths from real assessment data.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2025 — PS 26140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Process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60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 — Next.js / React / Tailwind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373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builder · Monaco editor · Bloch/histogram viz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2257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460"/>
                </a:solidFill>
              </a:rPr>
              <a:t>↓ REST calls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6C4A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237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Auth · Routing · Orchestration (Next.js API layer)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4495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460"/>
                </a:solidFill>
              </a:rPr>
              <a:t>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pic>
        <p:nvPicPr>
          <p:cNvPr id="13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51560" y="3364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Service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794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(Gemini) · tool-calling into simulation · personalization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292608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pic>
        <p:nvPicPr>
          <p:cNvPr id="17" name="Image 1" descr="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383280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29000" y="3364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Service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3063240" y="3794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Aer · sandboxed execution · adapter pattern (Cirq, PennyLane, qBraid)</a:t>
            </a:r>
            <a:endParaRPr lang="en-US" sz="920" dirty="0"/>
          </a:p>
        </p:txBody>
      </p:sp>
      <p:sp>
        <p:nvSpPr>
          <p:cNvPr id="20" name="Shape 16"/>
          <p:cNvSpPr/>
          <p:nvPr/>
        </p:nvSpPr>
        <p:spPr>
          <a:xfrm>
            <a:off x="530352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pic>
        <p:nvPicPr>
          <p:cNvPr id="21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38328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806440" y="3364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Progress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440680" y="3794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· Auth · Row-Level Security · courses &amp; submissions</a:t>
            </a:r>
            <a:endParaRPr lang="en-US" sz="920" dirty="0"/>
          </a:p>
        </p:txBody>
      </p:sp>
      <p:sp>
        <p:nvSpPr>
          <p:cNvPr id="24" name="Shape 19"/>
          <p:cNvSpPr/>
          <p:nvPr/>
        </p:nvSpPr>
        <p:spPr>
          <a:xfrm>
            <a:off x="548640" y="484632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E9E3F7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31520" y="4846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Circuit JSON Contract  —  { num_qubits, gates[], shots }  —  one format used by builder, editor, simulator &amp; tutor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772400" y="1371600"/>
            <a:ext cx="3840480" cy="3977640"/>
          </a:xfrm>
          <a:prstGeom prst="roundRect">
            <a:avLst>
              <a:gd name="adj" fmla="val 2857"/>
            </a:avLst>
          </a:prstGeom>
          <a:solidFill>
            <a:srgbClr val="160A2E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4672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Used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046720" y="1965960"/>
            <a:ext cx="3291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Tailwind CSS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 · Three.js (Bloch sphere)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/ Recharts (histograms)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Aer · PennyLane · Cirq · qBraid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— Gemini API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(Postgres, Auth, RLS)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FastAPI-style Python microservices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sandboxed execution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2025 — PS 26140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De-Risked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BE8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4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arbitrary user code safely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1417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4AB6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93792" y="14173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76672" y="14173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A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resource-limited sandbox execution — treated as a hard requirement, not an afterthought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BE8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3500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4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real quantum hardware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35000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4AB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93792" y="2350008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76672" y="23500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A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simulation via Qiskit Aer covers all educational-scale circuits (well under ~20 qubits)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BE8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82696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4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Juggling multiple quantum SDKs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328269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4AB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328269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76672" y="3282696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A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lets Qiskit, Cirq, PennyLane and qBraid plug into one shared circuit contract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509760" y="14173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E9E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710928" y="1572768"/>
            <a:ext cx="384048" cy="384048"/>
          </a:xfrm>
          <a:prstGeom prst="ellipse">
            <a:avLst/>
          </a:prstGeom>
          <a:solidFill>
            <a:srgbClr val="6C4AB6"/>
          </a:solidFill>
          <a:ln/>
        </p:spPr>
      </p:sp>
      <p:pic>
        <p:nvPicPr>
          <p:cNvPr id="21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854" y="1622694"/>
            <a:ext cx="284196" cy="28419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509760" y="201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64692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backend needed — Qiskit, FastAPI, Supabase, Gemini API — is free/low-cost at hackathon-to-pilot scale.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48640" y="425196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6C4AB6"/>
          </a:solidFill>
          <a:ln/>
        </p:spPr>
      </p:sp>
      <p:pic>
        <p:nvPicPr>
          <p:cNvPr id="26" name="Image 1" descr="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4494276"/>
            <a:ext cx="338328" cy="33832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37160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Requirements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22960" y="489204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microservices (Docker) for the simulation sandbox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GPU/CPU cloud instance for Aer simulation at scale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 for Postgres, Auth and storage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key for the AI tutor</a:t>
            </a:r>
            <a:endParaRPr lang="en-US" sz="980" dirty="0"/>
          </a:p>
        </p:txBody>
      </p:sp>
      <p:sp>
        <p:nvSpPr>
          <p:cNvPr id="29" name="Shape 25"/>
          <p:cNvSpPr/>
          <p:nvPr/>
        </p:nvSpPr>
        <p:spPr>
          <a:xfrm>
            <a:off x="4892040" y="4251960"/>
            <a:ext cx="4343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120640" y="4434840"/>
            <a:ext cx="457200" cy="457200"/>
          </a:xfrm>
          <a:prstGeom prst="ellipse">
            <a:avLst/>
          </a:prstGeom>
          <a:solidFill>
            <a:srgbClr val="1FA37D"/>
          </a:solidFill>
          <a:ln/>
        </p:spPr>
      </p:sp>
      <p:pic>
        <p:nvPicPr>
          <p:cNvPr id="31" name="Image 2" descr="icons/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4494276"/>
            <a:ext cx="338328" cy="33832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715000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Frameworks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5166360" y="48920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Aer — industry-standard quantum simulator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PennyLane, Cirq, qBraid — additional backends via adapters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 &amp; Three.js — battle-tested in production IDEs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managed Postgres with built-in RLS &amp; Auth</a:t>
            </a:r>
            <a:endParaRPr lang="en-US" sz="980" dirty="0"/>
          </a:p>
        </p:txBody>
      </p:sp>
      <p:sp>
        <p:nvSpPr>
          <p:cNvPr id="34" name="Shape 29"/>
          <p:cNvSpPr/>
          <p:nvPr/>
        </p:nvSpPr>
        <p:spPr>
          <a:xfrm>
            <a:off x="9509760" y="3840480"/>
            <a:ext cx="2148840" cy="2468880"/>
          </a:xfrm>
          <a:prstGeom prst="roundRect">
            <a:avLst>
              <a:gd name="adj" fmla="val 4255"/>
            </a:avLst>
          </a:prstGeom>
          <a:solidFill>
            <a:srgbClr val="160A2E"/>
          </a:solidFill>
          <a:ln/>
        </p:spPr>
      </p:sp>
      <p:sp>
        <p:nvSpPr>
          <p:cNvPr id="35" name="Shape 30"/>
          <p:cNvSpPr/>
          <p:nvPr/>
        </p:nvSpPr>
        <p:spPr>
          <a:xfrm>
            <a:off x="9710928" y="4023360"/>
            <a:ext cx="384048" cy="384048"/>
          </a:xfrm>
          <a:prstGeom prst="ellipse">
            <a:avLst/>
          </a:prstGeom>
          <a:solidFill>
            <a:srgbClr val="24E0D6"/>
          </a:solidFill>
          <a:ln/>
        </p:spPr>
      </p:sp>
      <p:pic>
        <p:nvPicPr>
          <p:cNvPr id="36" name="Image 3" descr="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854" y="4073286"/>
            <a:ext cx="284196" cy="28419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509760" y="4462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9646920" y="498348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3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cost vs. real quantum access</a:t>
            </a:r>
            <a:endParaRPr lang="en-US" sz="93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3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for students, subscription for institutions</a:t>
            </a:r>
            <a:endParaRPr lang="en-US" sz="930" dirty="0"/>
          </a:p>
        </p:txBody>
      </p:sp>
      <p:sp>
        <p:nvSpPr>
          <p:cNvPr id="39" name="Text 3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2025 — PS 26140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Abstract Theory to a Quantum-Ready Workforce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221342"/>
          </a:solidFill>
          <a:ln w="12700">
            <a:solidFill>
              <a:srgbClr val="3A2C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1737360"/>
            <a:ext cx="640080" cy="640080"/>
          </a:xfrm>
          <a:prstGeom prst="ellipse">
            <a:avLst/>
          </a:prstGeom>
          <a:solidFill>
            <a:srgbClr val="6C4AB6"/>
          </a:solidFill>
          <a:ln/>
        </p:spPr>
      </p:sp>
      <p:pic>
        <p:nvPicPr>
          <p:cNvPr id="6" name="Image 0" descr="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30" y="182057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Impact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D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qubits, superposition and entanglement into something learners build and see, not just read about.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383280" y="15087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221342"/>
          </a:solidFill>
          <a:ln w="12700">
            <a:solidFill>
              <a:srgbClr val="3A2C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6260" y="1737360"/>
            <a:ext cx="640080" cy="640080"/>
          </a:xfrm>
          <a:prstGeom prst="ellipse">
            <a:avLst/>
          </a:prstGeom>
          <a:solidFill>
            <a:srgbClr val="6C4AB6"/>
          </a:solidFill>
          <a:ln/>
        </p:spPr>
      </p:sp>
      <p:pic>
        <p:nvPicPr>
          <p:cNvPr id="11" name="Image 1" descr="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82057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Impact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D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barrier to experimenting with real algorithms — Grover, Deutsch-Jozsa, teleportation — without needing hardware.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217920" y="15087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221342"/>
          </a:solidFill>
          <a:ln w="12700">
            <a:solidFill>
              <a:srgbClr val="3A2C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00900" y="1737360"/>
            <a:ext cx="640080" cy="640080"/>
          </a:xfrm>
          <a:prstGeom prst="ellipse">
            <a:avLst/>
          </a:prstGeom>
          <a:solidFill>
            <a:srgbClr val="6C4AB6"/>
          </a:solidFill>
          <a:ln/>
        </p:spPr>
      </p:sp>
      <p:pic>
        <p:nvPicPr>
          <p:cNvPr id="16" name="Image 2" descr="icons/indu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110" y="182057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Impact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D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Assessment, coding challenges and progress analytics prepare a pipeline of quantum-literate developers.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9052560" y="15087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221342"/>
          </a:solidFill>
          <a:ln w="12700">
            <a:solidFill>
              <a:srgbClr val="3A2C6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35540" y="1737360"/>
            <a:ext cx="640080" cy="640080"/>
          </a:xfrm>
          <a:prstGeom prst="ellipse">
            <a:avLst/>
          </a:prstGeom>
          <a:solidFill>
            <a:srgbClr val="6C4AB6"/>
          </a:solidFill>
          <a:ln/>
        </p:spPr>
      </p:sp>
      <p:pic>
        <p:nvPicPr>
          <p:cNvPr id="21" name="Image 3" descr="icons/un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750" y="182057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Impact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D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India's quantum mission by scaling quantum education beyond a handful of premier institutes.</a:t>
            </a:r>
            <a:endParaRPr lang="en-US" sz="93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Prospects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5720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Machine Learning modules once the algorithm library matures.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dashboards for university-wide adoption and cohort analytics.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pathways aligned with India's National Quantum Mission.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simulator adapters to real cloud quantum hardware (IBM Q, AWS Braket) for advanced learners.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589520" y="4206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27" name="Text 21"/>
          <p:cNvSpPr txBox="1"/>
          <p:nvPr/>
        </p:nvSpPr>
        <p:spPr>
          <a:xfrm>
            <a:off x="8732520" y="426110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— Aer simulation ceiling for educational-scale circuits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589520" y="4983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9" name="Text 23"/>
          <p:cNvSpPr txBox="1"/>
          <p:nvPr/>
        </p:nvSpPr>
        <p:spPr>
          <a:xfrm>
            <a:off x="8732520" y="503834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backends supported via one adapter interface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7589520" y="5760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31" name="Text 25"/>
          <p:cNvSpPr txBox="1"/>
          <p:nvPr/>
        </p:nvSpPr>
        <p:spPr>
          <a:xfrm>
            <a:off x="8732520" y="58155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AI-tutor modes — explain, debug, optimize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2025 — PS 26140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0E0A1E"/>
          </a:solidFill>
          <a:ln/>
          <a:effectLst>
            <a:outerShdw sx="100000" sy="100000" kx="0" ky="0" algn="bl" rotWithShape="0" blurRad="127000" dist="38100" dir="5400000">
              <a:srgbClr val="3A2C6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6035040" cy="329184"/>
          </a:xfrm>
          <a:prstGeom prst="roundRect">
            <a:avLst>
              <a:gd name="adj" fmla="val 27778"/>
            </a:avLst>
          </a:prstGeom>
          <a:solidFill>
            <a:srgbClr val="1E14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536192"/>
            <a:ext cx="100584" cy="100584"/>
          </a:xfrm>
          <a:prstGeom prst="ellipse">
            <a:avLst/>
          </a:prstGeom>
          <a:solidFill>
            <a:srgbClr val="C6414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536192"/>
            <a:ext cx="100584" cy="100584"/>
          </a:xfrm>
          <a:prstGeom prst="ellipse">
            <a:avLst/>
          </a:prstGeom>
          <a:solidFill>
            <a:srgbClr val="E0B02A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536192"/>
            <a:ext cx="100584" cy="100584"/>
          </a:xfrm>
          <a:prstGeom prst="ellipse">
            <a:avLst/>
          </a:prstGeom>
          <a:solidFill>
            <a:srgbClr val="1FA37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4173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8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quantumlearn.app / builder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6C4A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920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450592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6C4A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4505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2980944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6C4A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9809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511296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6C4A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5112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041648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6C4A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416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57200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6C4A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5720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54480" y="2194560"/>
            <a:ext cx="4663440" cy="0"/>
          </a:xfrm>
          <a:prstGeom prst="line">
            <a:avLst/>
          </a:prstGeom>
          <a:noFill/>
          <a:ln w="19050">
            <a:solidFill>
              <a:srgbClr val="3A2C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2588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8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54480" y="2971800"/>
            <a:ext cx="4663440" cy="0"/>
          </a:xfrm>
          <a:prstGeom prst="line">
            <a:avLst/>
          </a:prstGeom>
          <a:noFill/>
          <a:ln w="19050">
            <a:solidFill>
              <a:srgbClr val="3A2C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2588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8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54480" y="3749040"/>
            <a:ext cx="4663440" cy="0"/>
          </a:xfrm>
          <a:prstGeom prst="line">
            <a:avLst/>
          </a:prstGeom>
          <a:noFill/>
          <a:ln w="19050">
            <a:solidFill>
              <a:srgbClr val="3A2C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25880" y="3611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8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1993392"/>
            <a:ext cx="384048" cy="402336"/>
          </a:xfrm>
          <a:prstGeom prst="roundRect">
            <a:avLst>
              <a:gd name="adj" fmla="val 14286"/>
            </a:avLst>
          </a:prstGeom>
          <a:solidFill>
            <a:srgbClr val="24E0D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011680" y="199339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34640" y="2148840"/>
            <a:ext cx="91440" cy="91440"/>
          </a:xfrm>
          <a:prstGeom prst="ellipse">
            <a:avLst/>
          </a:prstGeom>
          <a:solidFill>
            <a:srgbClr val="24E0D6"/>
          </a:solidFill>
          <a:ln/>
        </p:spPr>
      </p:sp>
      <p:sp>
        <p:nvSpPr>
          <p:cNvPr id="31" name="Shape 29"/>
          <p:cNvSpPr/>
          <p:nvPr/>
        </p:nvSpPr>
        <p:spPr>
          <a:xfrm>
            <a:off x="2880360" y="2194560"/>
            <a:ext cx="0" cy="777240"/>
          </a:xfrm>
          <a:prstGeom prst="line">
            <a:avLst/>
          </a:prstGeom>
          <a:noFill/>
          <a:ln w="19050">
            <a:solidFill>
              <a:srgbClr val="24E0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2807208"/>
            <a:ext cx="274320" cy="274320"/>
          </a:xfrm>
          <a:prstGeom prst="ellipse">
            <a:avLst/>
          </a:prstGeom>
          <a:solidFill>
            <a:srgbClr val="0E0A1E"/>
          </a:solidFill>
          <a:ln w="25400">
            <a:solidFill>
              <a:srgbClr val="24E0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0" y="27889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E0D6"/>
                </a:solidFill>
              </a:rPr>
              <a:t>+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3337560"/>
            <a:ext cx="1325880" cy="1325880"/>
          </a:xfrm>
          <a:prstGeom prst="ellipse">
            <a:avLst/>
          </a:prstGeom>
          <a:ln w="19050">
            <a:solidFill>
              <a:srgbClr val="6C4A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3995928"/>
            <a:ext cx="1325880" cy="0"/>
          </a:xfrm>
          <a:prstGeom prst="line">
            <a:avLst/>
          </a:prstGeom>
          <a:noFill/>
          <a:ln w="12700">
            <a:solidFill>
              <a:srgbClr val="5C4A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50408" y="3337560"/>
            <a:ext cx="0" cy="1325880"/>
          </a:xfrm>
          <a:prstGeom prst="line">
            <a:avLst/>
          </a:prstGeom>
          <a:noFill/>
          <a:ln w="12700">
            <a:solidFill>
              <a:srgbClr val="5C4A9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50408" y="3995928"/>
            <a:ext cx="548640" cy="-502920"/>
          </a:xfrm>
          <a:prstGeom prst="line">
            <a:avLst/>
          </a:prstGeom>
          <a:noFill/>
          <a:ln w="25400">
            <a:solidFill>
              <a:srgbClr val="24E0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0600" y="4727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8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Sphere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92040" y="5149901"/>
            <a:ext cx="228600" cy="153619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40" name="Shape 38"/>
          <p:cNvSpPr/>
          <p:nvPr/>
        </p:nvSpPr>
        <p:spPr>
          <a:xfrm>
            <a:off x="5212080" y="4974336"/>
            <a:ext cx="228600" cy="329184"/>
          </a:xfrm>
          <a:prstGeom prst="rect">
            <a:avLst/>
          </a:prstGeom>
          <a:solidFill>
            <a:srgbClr val="24E0D6"/>
          </a:solidFill>
          <a:ln/>
        </p:spPr>
      </p:sp>
      <p:sp>
        <p:nvSpPr>
          <p:cNvPr id="41" name="Shape 39"/>
          <p:cNvSpPr/>
          <p:nvPr/>
        </p:nvSpPr>
        <p:spPr>
          <a:xfrm>
            <a:off x="5532120" y="5248656"/>
            <a:ext cx="228600" cy="54864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42" name="Shape 40"/>
          <p:cNvSpPr/>
          <p:nvPr/>
        </p:nvSpPr>
        <p:spPr>
          <a:xfrm>
            <a:off x="5852160" y="4974336"/>
            <a:ext cx="228600" cy="329184"/>
          </a:xfrm>
          <a:prstGeom prst="rect">
            <a:avLst/>
          </a:prstGeom>
          <a:solidFill>
            <a:srgbClr val="24E0D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800600" y="53218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F8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|00⟩  |01⟩  |10⟩  |11⟩</a:t>
            </a:r>
            <a:endParaRPr lang="en-US" sz="6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422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UI — drag-and-drop builder, Monaco editor, Bloch sphere &amp; histogram visualizations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1417320"/>
            <a:ext cx="48006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132320" y="1572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Build Status</a:t>
            </a:r>
            <a:endParaRPr lang="en-US" sz="1500" dirty="0"/>
          </a:p>
        </p:txBody>
      </p:sp>
      <p:pic>
        <p:nvPicPr>
          <p:cNvPr id="4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029968"/>
            <a:ext cx="201168" cy="201168"/>
          </a:xfrm>
          <a:prstGeom prst="rect">
            <a:avLst/>
          </a:prstGeom>
        </p:spPr>
      </p:pic>
      <p:sp>
        <p:nvSpPr>
          <p:cNvPr id="48" name="Text 45"/>
          <p:cNvSpPr txBox="1"/>
          <p:nvPr/>
        </p:nvSpPr>
        <p:spPr>
          <a:xfrm>
            <a:off x="7498080" y="19568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scaffold — builder, editor, learn, dashboard routes</a:t>
            </a:r>
            <a:endParaRPr lang="en-US" sz="1030" dirty="0"/>
          </a:p>
        </p:txBody>
      </p:sp>
      <p:pic>
        <p:nvPicPr>
          <p:cNvPr id="4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596896"/>
            <a:ext cx="201168" cy="201168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7498080" y="252374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Circuit-builder &amp; visualization components (Bloch sphere, histogram demos)</a:t>
            </a:r>
            <a:endParaRPr lang="en-US" sz="1030" dirty="0"/>
          </a:p>
        </p:txBody>
      </p:sp>
      <p:pic>
        <p:nvPicPr>
          <p:cNvPr id="5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163824"/>
            <a:ext cx="201168" cy="201168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7498080" y="309067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circuit JSON schema with worked examples (Bell state, GHZ state, teleportation)</a:t>
            </a:r>
            <a:endParaRPr lang="en-US" sz="1030" dirty="0"/>
          </a:p>
        </p:txBody>
      </p:sp>
      <p:pic>
        <p:nvPicPr>
          <p:cNvPr id="53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730752"/>
            <a:ext cx="201168" cy="201168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7498080" y="36576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simulation service with adapter layer + sandboxed code executor</a:t>
            </a:r>
            <a:endParaRPr lang="en-US" sz="1030" dirty="0"/>
          </a:p>
        </p:txBody>
      </p:sp>
      <p:pic>
        <p:nvPicPr>
          <p:cNvPr id="5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297680"/>
            <a:ext cx="201168" cy="201168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7498080" y="42245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AI-tutor service wrapping Gemini — explain, debug, optimize prompts + personalization engine</a:t>
            </a:r>
            <a:endParaRPr lang="en-US" sz="1030" dirty="0"/>
          </a:p>
        </p:txBody>
      </p:sp>
      <p:pic>
        <p:nvPicPr>
          <p:cNvPr id="57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4864608"/>
            <a:ext cx="201168" cy="201168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7498080" y="479145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 for circuit schema, simulation tool, and tutor endpoints</a:t>
            </a:r>
            <a:endParaRPr lang="en-US" sz="1030" dirty="0"/>
          </a:p>
        </p:txBody>
      </p:sp>
      <p:sp>
        <p:nvSpPr>
          <p:cNvPr id="59" name="Text 5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Text 5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2025 — PS 26140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the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411480" cy="411480"/>
          </a:xfrm>
          <a:prstGeom prst="ellipse">
            <a:avLst/>
          </a:prstGeom>
          <a:solidFill>
            <a:srgbClr val="6C4AB6"/>
          </a:solidFill>
          <a:ln/>
        </p:spPr>
      </p:sp>
      <p:pic>
        <p:nvPicPr>
          <p:cNvPr id="6" name="Image 0" descr="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300" y="1626260"/>
            <a:ext cx="304495" cy="304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72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Research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8483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Preskill, J. (2018). Quantum Computing in the NISQ Era and Beyond. Quantum.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Cross, A. et al. (2022). OpenQASM 3 — a broadly usable quantum assembly language. IEEE QCE.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on interactive/visual pedagogy improving retention of abstract CS &amp; physics concepts.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73368" y="1572768"/>
            <a:ext cx="411480" cy="411480"/>
          </a:xfrm>
          <a:prstGeom prst="ellipse">
            <a:avLst/>
          </a:prstGeom>
          <a:solidFill>
            <a:srgbClr val="1FA37D"/>
          </a:solidFill>
          <a:ln/>
        </p:spPr>
      </p:sp>
      <p:pic>
        <p:nvPicPr>
          <p:cNvPr id="11" name="Image 1" descr="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860" y="1626260"/>
            <a:ext cx="304495" cy="3044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3720" y="1572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&amp; Tools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08483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(IBM) — circuit construction &amp; Aer simulation.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PennyLane, Cirq, qBraid — additional simulator backends.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Editor, Three.js, Supabase, Google AI Studio (Gemini).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904488"/>
            <a:ext cx="411480" cy="411480"/>
          </a:xfrm>
          <a:prstGeom prst="ellipse">
            <a:avLst/>
          </a:prstGeom>
          <a:solidFill>
            <a:srgbClr val="24E0D6"/>
          </a:solidFill>
          <a:ln/>
        </p:spPr>
      </p:sp>
      <p:pic>
        <p:nvPicPr>
          <p:cNvPr id="16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00" y="3957980"/>
            <a:ext cx="304495" cy="3044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9044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Context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4165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education &amp; workforce-development spend is growing quickly worldwide as national quantum missions scale up.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tools combine theory, visual circuit design, simulation and AI tutoring in one place — a clear gap this platform fills.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National Quantum Mission creates direct demand for a scalable quantum-literacy pipeline.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2C66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73368" y="3904488"/>
            <a:ext cx="411480" cy="411480"/>
          </a:xfrm>
          <a:prstGeom prst="ellipse">
            <a:avLst/>
          </a:prstGeom>
          <a:solidFill>
            <a:srgbClr val="6C4AB6"/>
          </a:solidFill>
          <a:ln/>
        </p:spPr>
      </p:sp>
      <p:pic>
        <p:nvPicPr>
          <p:cNvPr id="21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860" y="3957980"/>
            <a:ext cx="304495" cy="3044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39044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Documentation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44165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Circuit JSON → Qiskit Aer simulation → statevector/counts → visualization → AI tutor reasoning.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containerized services (frontend, gateway, simulation, AI tutor) with Supabase-managed data layer.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monorepo — apps/web, services/simulation, services/ai-tutor, shared/circuit-schema.</a:t>
            </a:r>
            <a:endParaRPr lang="en-US" sz="960" dirty="0"/>
          </a:p>
        </p:txBody>
      </p:sp>
      <p:sp>
        <p:nvSpPr>
          <p:cNvPr id="24" name="Text 1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2025 — PS 26140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2026-09-06T22:28:19Z</dcterms:created>
  <dcterms:modified xsi:type="dcterms:W3CDTF">2026-09-06T22:28:19Z</dcterms:modified>
</cp:coreProperties>
</file>